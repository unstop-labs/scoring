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1280160"/>
            <a:ext cx="2560320" cy="2560320"/>
          </a:xfrm>
          <a:prstGeom prst="ellipse">
            <a:avLst/>
          </a:prstGeom>
          <a:solidFill>
            <a:srgbClr val="1A5C2E"/>
          </a:solidFill>
          <a:ln/>
        </p:spPr>
      </p:sp>
      <p:sp>
        <p:nvSpPr>
          <p:cNvPr id="4" name="Shape 2"/>
          <p:cNvSpPr/>
          <p:nvPr/>
        </p:nvSpPr>
        <p:spPr>
          <a:xfrm>
            <a:off x="6537960" y="1600200"/>
            <a:ext cx="1920240" cy="1920240"/>
          </a:xfrm>
          <a:prstGeom prst="ellipse">
            <a:avLst/>
          </a:prstGeom>
          <a:solidFill>
            <a:srgbClr val="2E7D4F"/>
          </a:solidFill>
          <a:ln/>
        </p:spPr>
      </p:sp>
      <p:sp>
        <p:nvSpPr>
          <p:cNvPr id="5" name="Text 3"/>
          <p:cNvSpPr/>
          <p:nvPr/>
        </p:nvSpPr>
        <p:spPr>
          <a:xfrm>
            <a:off x="6720840" y="187452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🛰️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AgriScore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Irrigation Intelligence Network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Mechanism — v2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Bittensor Subnet  •  Sentinel-2 / SAR  •  TAO Rewards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AgriScore?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54864" cy="502920"/>
          </a:xfrm>
          <a:prstGeom prst="rect">
            <a:avLst/>
          </a:prstGeom>
          <a:solidFill>
            <a:srgbClr val="5CB85C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4630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554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🌍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Intelligence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75488" y="2697480"/>
            <a:ext cx="243230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Miners fetch Sentinel-2 L2A imagery (10 m) from Microsoft Planetary Computer and compute soil-moisture predictions for agricultural fields.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554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⛓️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33756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Bittensor Subnet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0128" y="2697480"/>
            <a:ext cx="243230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are scored by validators who assign TAO rewards proportional to accuracy — incentivising better models through economic competition.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15544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🏆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172200" y="2286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Scoring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44768" y="2697480"/>
            <a:ext cx="2432304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multi-pillar scoring engine with synthetic ground truth eliminates gameable peer consensus and rewards genuinely accurate models.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188720"/>
            <a:ext cx="2194560" cy="274320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2920" y="1810512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challenges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responses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on-chain weights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520440" y="1188720"/>
            <a:ext cx="2194560" cy="2743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1188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MINERS (N)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0" y="1810512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Sentinel-2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soil-moisture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GeoJSON grid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75120" y="1188720"/>
            <a:ext cx="2194560" cy="274320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6656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BITTENSOR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12280" y="1810512"/>
            <a:ext cx="19202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Distributes TAO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proportional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validator weights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78608" y="2560320"/>
            <a:ext cx="960120" cy="0"/>
          </a:xfrm>
          <a:prstGeom prst="line">
            <a:avLst/>
          </a:prstGeom>
          <a:noFill/>
          <a:ln w="31750">
            <a:solidFill>
              <a:srgbClr val="2E7D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78608" y="22402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E7D4F"/>
                </a:solidFill>
              </a:rPr>
              <a:t>challenge →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33288" y="2560320"/>
            <a:ext cx="960120" cy="0"/>
          </a:xfrm>
          <a:prstGeom prst="line">
            <a:avLst/>
          </a:prstGeom>
          <a:noFill/>
          <a:ln w="3175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33288" y="224028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A838"/>
                </a:solidFill>
              </a:rPr>
              <a:t>weights →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38728" y="3200400"/>
            <a:ext cx="-978408" cy="0"/>
          </a:xfrm>
          <a:prstGeom prst="line">
            <a:avLst/>
          </a:prstGeom>
          <a:noFill/>
          <a:ln w="25400">
            <a:solidFill>
              <a:srgbClr val="0D7377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2468880" y="3246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7377"/>
                </a:solidFill>
              </a:rPr>
              <a:t>← scored responses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 rewards flow from chain back to miners proportional to their scoring performance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Classes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irrigation-relevant soil-moisture categories miners must predict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8412480" cy="749808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17320"/>
            <a:ext cx="164592" cy="7498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🔴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34440" y="14904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CRITICAL_DRY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8105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20% field capacity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0" y="1600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Irrigate within 24 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8412480" cy="749808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286000"/>
            <a:ext cx="164592" cy="7498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33172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🟠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234440" y="2359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2679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– 40%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0" y="2468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Irrigate in 2–3 days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8412480" cy="749808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154680"/>
            <a:ext cx="164592" cy="749808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0040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🟢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34440" y="3227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3547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– 70%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Monitor only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8412480" cy="749808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4023360"/>
            <a:ext cx="164592" cy="749808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069080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🔵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34440" y="409651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34440" y="4416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40480" y="4206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irrigation needed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Pipeline (v2)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sequential stages — each stage can gate or penalise a miner response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46304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29768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15568" y="13258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Processing-Rate Gate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7647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gate: 2 s – 90 s window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68880" y="2258568"/>
            <a:ext cx="0" cy="13716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40487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" y="2633472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" y="2633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15568" y="24963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GT Generation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29352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seed → deterministic ground truth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468880" y="3429000"/>
            <a:ext cx="0" cy="13716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575304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" y="3803904"/>
            <a:ext cx="548640" cy="548640"/>
          </a:xfrm>
          <a:prstGeom prst="ellipse">
            <a:avLst/>
          </a:prstGeom>
          <a:solidFill>
            <a:srgbClr val="E8A838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" y="38039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5568" y="366674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Pillar Metrics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410565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mean → accuracy score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846320" y="1234440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10328" y="1463040"/>
            <a:ext cx="548640" cy="54864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23" name="Text 21"/>
          <p:cNvSpPr/>
          <p:nvPr/>
        </p:nvSpPr>
        <p:spPr>
          <a:xfrm>
            <a:off x="4910328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596128" y="13258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Gate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596128" y="17647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≤ θ=0.30 → zero rewards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49440" y="2258568"/>
            <a:ext cx="0" cy="13716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46320" y="2404872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910328" y="2633472"/>
            <a:ext cx="548640" cy="548640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29" name="Text 27"/>
          <p:cNvSpPr/>
          <p:nvPr/>
        </p:nvSpPr>
        <p:spPr>
          <a:xfrm>
            <a:off x="4910328" y="26334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596128" y="249631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Plagiarism Penalty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96128" y="2935224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 &gt; 0.99 → score × 0.20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49440" y="3429000"/>
            <a:ext cx="0" cy="13716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575304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910328" y="3803904"/>
            <a:ext cx="548640" cy="548640"/>
          </a:xfrm>
          <a:prstGeom prst="ellipse">
            <a:avLst/>
          </a:prstGeom>
          <a:solidFill>
            <a:srgbClr val="1A5C2E"/>
          </a:solidFill>
          <a:ln/>
        </p:spPr>
      </p:sp>
      <p:sp>
        <p:nvSpPr>
          <p:cNvPr id="35" name="Text 33"/>
          <p:cNvSpPr/>
          <p:nvPr/>
        </p:nvSpPr>
        <p:spPr>
          <a:xfrm>
            <a:off x="4910328" y="38039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596128" y="3666744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Weights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596128" y="4105656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Bittensor weight + anti-copy tiebreak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Processing-Rate Gate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TurboVision's RTF gate — prevents pre-computed or timed-out responses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E0EAE0"/>
          </a:solidFill>
          <a:ln w="12700">
            <a:solidFill>
              <a:srgbClr val="E0EA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1371600" cy="914400"/>
          </a:xfrm>
          <a:prstGeom prst="rect">
            <a:avLst/>
          </a:prstGeom>
          <a:solidFill>
            <a:srgbClr val="FFCCCC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1645920"/>
            <a:ext cx="5029200" cy="914400"/>
          </a:xfrm>
          <a:prstGeom prst="rect">
            <a:avLst/>
          </a:prstGeom>
          <a:solidFill>
            <a:srgbClr val="CCF0CC"/>
          </a:solidFill>
          <a:ln w="12700">
            <a:solidFill>
              <a:srgbClr val="CCF0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1645920"/>
            <a:ext cx="1828800" cy="914400"/>
          </a:xfrm>
          <a:prstGeom prst="rect">
            <a:avLst/>
          </a:prstGeom>
          <a:solidFill>
            <a:srgbClr val="FFCCCC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916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 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28800" y="16916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 – 90 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0" y="16916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 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606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0s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64208" y="2606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720840" y="26060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90s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108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&lt; 2 s blocked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54787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satellite-API round-trip minimum. Response must have been pre-computed — economically gaming the system.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91840" y="30175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3108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2 – 90 s pass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354787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window for fetching imagery, computing NDVI/NDWI, and building the GeoJSON grid.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17920" y="301752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3108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&gt; 90 s blocked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354787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— miner is too slow to be operationally useful on the network.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Synthetic Ground Truth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GT eliminates gameable peer consensus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8412480" cy="169164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1732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C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seed  =  SHA256( nonce  +  latitude  +  longitude  +  date 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84708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CEE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ndvi   =  seasonal_baseline(lat, day_of_year)  +  deterministic_noise(seed, cell_id)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CEE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 =  moisture_class_from_index( mi 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3200400"/>
            <a:ext cx="2743200" cy="1645920"/>
          </a:xfrm>
          <a:prstGeom prst="rect">
            <a:avLst/>
          </a:prstGeom>
          <a:solidFill>
            <a:srgbClr val="14350F"/>
          </a:solidFill>
          <a:ln w="12700">
            <a:solidFill>
              <a:srgbClr val="14350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291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Non-gameable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749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256-bit random nonce per challenge makes pre-computation impossible. Miners cannot know the GT before responding.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3200400"/>
            <a:ext cx="2743200" cy="1645920"/>
          </a:xfrm>
          <a:prstGeom prst="rect">
            <a:avLst/>
          </a:prstGeom>
          <a:solidFill>
            <a:srgbClr val="14350F"/>
          </a:solidFill>
          <a:ln w="12700">
            <a:solidFill>
              <a:srgbClr val="1435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3291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Reproducible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3749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validators with the same nonce generate identical GT — enabling multi-validator cross-checking without coordination.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3200400"/>
            <a:ext cx="2743200" cy="1645920"/>
          </a:xfrm>
          <a:prstGeom prst="rect">
            <a:avLst/>
          </a:prstGeom>
          <a:solidFill>
            <a:srgbClr val="14350F"/>
          </a:solidFill>
          <a:ln w="12700">
            <a:solidFill>
              <a:srgbClr val="14350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29184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No Collusion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55080" y="37490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v1 used cross-miner majority vote. Colluding miners could skew GT. v2 removes that attack surface entirely.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Six Pillar Metrics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mean of six independent evaluation dimensions → accuracy score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35331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Class F1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926080" y="1353312"/>
            <a:ext cx="5303520" cy="34747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1353312"/>
            <a:ext cx="1856232" cy="347472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55464" y="1371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Index MAE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26080" y="1920240"/>
            <a:ext cx="5303520" cy="34747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1920240"/>
            <a:ext cx="1060704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59936" y="193852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24871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Validity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26080" y="2487168"/>
            <a:ext cx="5303520" cy="34747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2487168"/>
            <a:ext cx="795528" cy="34747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25054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305409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Rate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926080" y="3054096"/>
            <a:ext cx="5303520" cy="34747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3054096"/>
            <a:ext cx="795528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30723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62102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Consistency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926080" y="3621024"/>
            <a:ext cx="5303520" cy="34747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6080" y="3621024"/>
            <a:ext cx="530352" cy="34747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29584" y="363931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1879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Calibration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926080" y="4187952"/>
            <a:ext cx="5303520" cy="34747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0" y="4187952"/>
            <a:ext cx="265176" cy="347472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42062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weighted mean of all six pillars produces the final accuracy score (acc)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1 — Moisture Class F1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35%   •   Method: Hungarian matching + AUC-F1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931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01952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cell-matching aligns predicted grid to GT grid optimally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Computes F1 at two strictness levels: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Strict — exact class match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Lenient ordinal — adjacent classes (e.g. DRY≈CRITICAL_DRY) partially credited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score = AUC of F1 across both levels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 when ALL class predictions are wrong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371600"/>
            <a:ext cx="42976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4630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0" y="1901952"/>
            <a:ext cx="3977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fields correctly is the core economic signal. A wrong class can mean an unnecessary irrigation run (wasted water) or a missed critical dry event (crop loss). The ordinal lenient scoring prevents cliff-edge penalties for near-misses.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56448" y="566928"/>
            <a:ext cx="694944" cy="694944"/>
          </a:xfrm>
          <a:prstGeom prst="ellipse">
            <a:avLst/>
          </a:prstGeom>
          <a:solidFill>
            <a:srgbClr val="1A5C2E"/>
          </a:solidFill>
          <a:ln/>
        </p:spPr>
      </p:sp>
      <p:sp>
        <p:nvSpPr>
          <p:cNvPr id="12" name="Text 10"/>
          <p:cNvSpPr/>
          <p:nvPr/>
        </p:nvSpPr>
        <p:spPr>
          <a:xfrm>
            <a:off x="8156448" y="704088"/>
            <a:ext cx="6949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 2 &amp; 3 — MAE + Spectral Validity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05840"/>
            <a:ext cx="109728" cy="3840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Index MAE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20%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810512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 of the numeric moisture_index value, normalised at 0.35 (random-chance MAE).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max(0,  1 − MAE/0.35)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 when MAE ≥ 0.35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penalises models that predict wrong magnitudes even when class labels are correct — e.g. predicting moisture_index = 0.65 on a cell that is actually 0.22 (CRITICAL_DRY).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0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109728" cy="384048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972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Validity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481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Weight: 15%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810512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Physics-bound checks on every predicted cell: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NDVI ∈ [-1, 1]  (vegetation index)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NDWI ∈ [-1, 1]  (water index)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moisture_index ∈ [0, 1]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Cross-band consistency (e.g. NDVI &gt; 0.5 should not pair with WET class unless there is recent rainfall)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 when all cells are out-of-range.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miners use genuine satellite physics, not fabricated values.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 4, 5 &amp; 6 — Alarm, Temporal, Calibration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05840"/>
            <a:ext cx="109728" cy="3886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1024128"/>
            <a:ext cx="548640" cy="54864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6" name="Text 4"/>
          <p:cNvSpPr/>
          <p:nvPr/>
        </p:nvSpPr>
        <p:spPr>
          <a:xfrm>
            <a:off x="2468880" y="10789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 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21208" y="1572768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spurious WET or OPTIMAL predictions on cells the GT classifies as DRY or CRITICAL_DRY, expressed per km².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 when ≥ 3 false alarms per km².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agronomic cost: a false alarm triggers unnecessary irrigation, wasting water and energy.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00584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05840"/>
            <a:ext cx="109728" cy="388620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1024128"/>
            <a:ext cx="548640" cy="548640"/>
          </a:xfrm>
          <a:prstGeom prst="ellipse">
            <a:avLst/>
          </a:prstGeom>
          <a:solidFill>
            <a:srgbClr val="2471A3"/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10789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20440" y="10972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71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Consistency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93008" y="1572768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checks: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Scene freshness — satellite data must be within ±14 days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Moisture change-rate plausibility — no overnight 80% swings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Trend direction alignment — drying/wetting trend consistent with historical baseline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 when all checks fail.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1005840"/>
            <a:ext cx="283464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5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005840"/>
            <a:ext cx="109728" cy="3886200"/>
          </a:xfrm>
          <a:prstGeom prst="rect">
            <a:avLst/>
          </a:prstGeom>
          <a:solidFill>
            <a:srgbClr val="7D3C98"/>
          </a:solidFill>
          <a:ln w="12700">
            <a:solidFill>
              <a:srgbClr val="7D3C9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1024128"/>
            <a:ext cx="548640" cy="548640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10789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10972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Calibration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64808" y="1572768"/>
            <a:ext cx="2468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Calibration Error (ECE) over 10 confidence bins.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 when cell_confidence &gt; 85% but actual accuracy &lt; 45%.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miners who know what they don't know. A well-calibrated model signals low confidence on difficult cloud-masked or transitional cells.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Baseline Gate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miner scoring at or below the threshold earns zero rewards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53312"/>
            <a:ext cx="8412480" cy="146304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44752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≤ θ   →   score = 0.0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CB8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 &gt; θ   →   score = ( acc − θ ) / ( 1 − θ )     [re-mapped to (0, 1]]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9077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0.30  for  IRRIGATION_DETECTION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735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7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naive 'always OPTIMAL' model scores ~0.28 — just below the threshold)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749040"/>
            <a:ext cx="8412480" cy="502920"/>
          </a:xfrm>
          <a:prstGeom prst="rect">
            <a:avLst/>
          </a:prstGeom>
          <a:solidFill>
            <a:srgbClr val="14350F"/>
          </a:solidFill>
          <a:ln w="12700">
            <a:solidFill>
              <a:srgbClr val="1435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81304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Prevents lazy or trivial submissions from collecting TAO rewards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14350F"/>
          </a:solidFill>
          <a:ln w="12700">
            <a:solidFill>
              <a:srgbClr val="14350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40740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EE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Re-maps all passing scores to the full (0, 1] range — fair differentiation above the bar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 — Plagiarism Penalty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mechanisms prevent model copying and reward originality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8016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2984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Cap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moisture_index vectors between every pair of miners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cosine similarity &gt; 0.99 → both miners capped at 20% of their original score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penalty: copying hurts the copier AND the copied (to prevent collusion)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0.99 chosen to avoid false positives from fields that are genuinely similar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80160"/>
            <a:ext cx="548640" cy="548640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280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40680" y="12984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Commit-Block Tiebreak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when mean absolute difference &lt; 0.03 (near-identical responses)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 with the earlier on-chain commit block is declared the winner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copying economically pointless: the copy always arrives after the original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deterministic — no validator discretion needed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mechanisms make it economically irrational to copy another miner's outputs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Anti-Cheat Mechanisms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known attack vector is covered by at least one mechanism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353312"/>
            <a:ext cx="4206240" cy="100584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44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256-bit Nonce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8562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against: Pre-computation of answers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2496312"/>
            <a:ext cx="4206240" cy="100584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87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Processing-rate gate &lt; 2s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9992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against: Sub-API-round-trip responses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3639312"/>
            <a:ext cx="4206240" cy="100584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30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Scene ID audit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1422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against: Stale or fabricated satellite scenes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1353312"/>
            <a:ext cx="4206240" cy="100584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444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Canary fields (~12%)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8562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against: Models that ignore actual satellite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2496312"/>
            <a:ext cx="4206240" cy="100584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2587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Cosine similarity &gt; 0.99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9992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against: Copy-pasting another miner's answer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3639312"/>
            <a:ext cx="4206240" cy="100584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7307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Commit-block tiebreak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414223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against: Copying another miner's model weights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Fields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 of challenges use known Thai reference locations — validators score independently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38988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Bhumibol Dam reservoir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69080" y="1444752"/>
            <a:ext cx="1234440" cy="41148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69080" y="144475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40680" y="141732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water body — ground-truth always WET regardless of season.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5840" y="17099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Bhumibol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176272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28600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🟢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26771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Inthanon forest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69080" y="2340864"/>
            <a:ext cx="1234440" cy="411480"/>
          </a:xfrm>
          <a:prstGeom prst="rect">
            <a:avLst/>
          </a:prstGeom>
          <a:solidFill>
            <a:srgbClr val="5CB85C"/>
          </a:solidFill>
          <a:ln w="12700">
            <a:solidFill>
              <a:srgbClr val="5CB8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2340864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40680" y="2313432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tropical canopy maintains consistently high moisture across the year.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5840" y="2606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072384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11480" y="318211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🟠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31638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Hong Son dryland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69080" y="3236976"/>
            <a:ext cx="123444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3236976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40680" y="3209544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Arid northern zone — high-confidence DRY baseline for dry-season challenges.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5840" y="3502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3968496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8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407822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🟠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5840" y="40599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Bangkok city centre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069080" y="4133088"/>
            <a:ext cx="123444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4133088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0680" y="410565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impervious surfaces return DRY regardless of rainfall — tests spectral realism.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05840" y="4398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Bangkok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→ v2 Migration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improvements across every dimension of the scoring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560320" cy="384048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0" y="1234440"/>
            <a:ext cx="27432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0" y="1234440"/>
            <a:ext cx="3108960" cy="38404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893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35808" y="12893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24728" y="128930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664208"/>
            <a:ext cx="8503920" cy="42062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7373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35808" y="173736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Cross-miner majority vote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24728" y="173736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synthetic GT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112264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218541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accuracy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35808" y="2185416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agreement with peer miners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24728" y="218541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Hungarian-matched AUC-F1 vs GT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560320"/>
            <a:ext cx="8503920" cy="42062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63347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035808" y="263347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5-score function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24728" y="2633472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METRIC_REGISTRY — pluggable pillars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008376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0815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quality bar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035808" y="308152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24728" y="308152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gate θ = 0.30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456432"/>
            <a:ext cx="8503920" cy="42062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3529584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035808" y="3529584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bands (0.7/0.4/0.0)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824728" y="3529584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gate [2s, 90s]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904488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9776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Anti-copy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035808" y="3977640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cap only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824728" y="397764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 + commit-block tiebreak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4352544"/>
            <a:ext cx="8503920" cy="42062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442569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F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Backwards compat.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035808" y="4425696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824728" y="4425696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v1 miners still work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5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Miner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POST /irrigation/challenge returning a GeoJSON FeatureCollection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377440" cy="384048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24912" y="1325880"/>
            <a:ext cx="100584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58184" y="1325880"/>
            <a:ext cx="5065776" cy="384048"/>
          </a:xfrm>
          <a:prstGeom prst="rect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9903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16352" y="139903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9624" y="1399032"/>
            <a:ext cx="49286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746504"/>
            <a:ext cx="8503920" cy="384048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1965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cell_id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24912" y="18196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758184" y="181965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cell index matching the challenge grid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157984"/>
            <a:ext cx="8503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3113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moisture_class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24912" y="223113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758184" y="223113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CRITICAL_DRY | DRY | OPTIMAL | WET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569464"/>
            <a:ext cx="8503920" cy="384048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64261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moisture_index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24912" y="26426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58184" y="264261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in [0, 1]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2980944"/>
            <a:ext cx="8503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05409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ndvi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24912" y="3054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758184" y="305409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Difference Vegetation Index [-1, 1]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0040" y="3392424"/>
            <a:ext cx="8503920" cy="384048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46557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ndwi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24912" y="346557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58184" y="346557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Normalised Difference Water Index [-1, 1]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3803904"/>
            <a:ext cx="8503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87705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cloud_masked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724912" y="38770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758184" y="387705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if cell is obscured by cloud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" y="4215384"/>
            <a:ext cx="8503920" cy="384048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28853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C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cell_confidence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24912" y="428853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73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58184" y="4288536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Per-cell confidence [0, 1]  ✦ optional but rewarded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L2A imagery (10 m) fetched from Microsoft Planetary Computer — no API key required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-1554480"/>
            <a:ext cx="8229600" cy="8229600"/>
          </a:xfrm>
          <a:prstGeom prst="ellipse">
            <a:avLst/>
          </a:prstGeom>
          <a:solidFill>
            <a:srgbClr val="1A5C2E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-1188720"/>
            <a:ext cx="7498080" cy="7498080"/>
          </a:xfrm>
          <a:prstGeom prst="ellipse">
            <a:avLst/>
          </a:prstGeom>
          <a:solidFill>
            <a:srgbClr val="0D1F0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AgriScore v2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CB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at a Glance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651760" cy="11887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 Satellite-grounded  —  Sentinel-2 L2A, no fabricated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82112" y="2011680"/>
            <a:ext cx="2651760" cy="11887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Non-gameable GT  —  SHA-256 nonce per challenge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98464" y="2011680"/>
            <a:ext cx="2651760" cy="11887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35624" y="2286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6 pillars, 2 gates, 2 anti-copy layers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29000"/>
            <a:ext cx="2651760" cy="11887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703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Hard latency gate  —  2 s to 90 s only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82112" y="3429000"/>
            <a:ext cx="2651760" cy="11887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3703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Baseline gating θ=0.30  —  quality floor enforced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98464" y="3429000"/>
            <a:ext cx="2651760" cy="1188720"/>
          </a:xfrm>
          <a:prstGeom prst="rect">
            <a:avLst/>
          </a:prstGeom>
          <a:solidFill>
            <a:srgbClr val="1A5C2E"/>
          </a:solidFill>
          <a:ln w="12700">
            <a:solidFill>
              <a:srgbClr val="1A5C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35624" y="37033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Pluggable METRIC_REGISTRY  —  new pillars in one file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788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github.com/UnStop-Labs/scoring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AgriScore Scoring Mechanism</dc:title>
  <dc:subject>PptxGenJS Presentation</dc:subject>
  <dc:creator>PptxGenJS</dc:creator>
  <cp:lastModifiedBy>PptxGenJS</cp:lastModifiedBy>
  <cp:revision>1</cp:revision>
  <dcterms:created xsi:type="dcterms:W3CDTF">2026-05-22T04:34:09Z</dcterms:created>
  <dcterms:modified xsi:type="dcterms:W3CDTF">2026-05-22T04:34:09Z</dcterms:modified>
</cp:coreProperties>
</file>